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22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345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109274" y="2020788"/>
            <a:ext cx="492530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Year-End Review 2025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3686220" y="2620863"/>
            <a:ext cx="17715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0"/>
              </a:spcAft>
              <a:buNone/>
            </a:pPr>
            <a:r>
              <a:rPr lang="en-US" sz="1800" dirty="0">
                <a:solidFill>
                  <a:srgbClr val="4E6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Vision for 2026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282577" y="3268563"/>
            <a:ext cx="1296739" cy="581025"/>
          </a:xfrm>
          <a:prstGeom prst="roundRect">
            <a:avLst>
              <a:gd name="adj" fmla="val 13115"/>
            </a:avLst>
          </a:prstGeom>
          <a:noFill/>
          <a:ln w="19050">
            <a:solidFill>
              <a:srgbClr val="EA322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677661" y="3440013"/>
            <a:ext cx="5065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33217" y="3268563"/>
            <a:ext cx="1420862" cy="581025"/>
          </a:xfrm>
          <a:prstGeom prst="roundRect">
            <a:avLst>
              <a:gd name="adj" fmla="val 13115"/>
            </a:avLst>
          </a:prstGeom>
          <a:noFill/>
          <a:ln w="19050">
            <a:solidFill>
              <a:srgbClr val="EA322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227060" y="3440013"/>
            <a:ext cx="63317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507980" y="3268563"/>
            <a:ext cx="1353294" cy="581025"/>
          </a:xfrm>
          <a:prstGeom prst="roundRect">
            <a:avLst>
              <a:gd name="adj" fmla="val 13115"/>
            </a:avLst>
          </a:prstGeom>
          <a:noFill/>
          <a:ln w="19050">
            <a:solidFill>
              <a:srgbClr val="EA322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902498" y="3440013"/>
            <a:ext cx="5642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663815" y="4167039"/>
            <a:ext cx="38163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one builds a house by waiting for bricks to fall."</a:t>
            </a:r>
            <a:endParaRPr lang="en-US" sz="1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DFA951C-99F9-0F7C-F1E0-FEF4F3749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416" y="815089"/>
            <a:ext cx="3181017" cy="6512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15926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4901" y="444401"/>
            <a:ext cx="803168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34901" y="2041475"/>
            <a:ext cx="8031682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2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tested us. Markets shifted. AI reshaped our industry. Uncertainty became the default.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4901" y="2985939"/>
            <a:ext cx="8031682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20"/>
              </a:lnSpc>
              <a:spcAft>
                <a:spcPts val="2500"/>
              </a:spcAft>
              <a:buNone/>
            </a:pPr>
            <a:r>
              <a:rPr lang="en-US" sz="1600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not change was this team's mindset. We showed up, owned the work, and kept building. That is the foundation we take into 2026.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4901" y="3993952"/>
            <a:ext cx="80316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being here. Thank you for building with us.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431727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4901" y="444401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Shift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4901" y="1012627"/>
            <a:ext cx="80316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buNone/>
            </a:pPr>
            <a:r>
              <a:rPr lang="en-US" sz="14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development is changing faster than ever.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4901" y="1768227"/>
            <a:ext cx="3778300" cy="2981623"/>
          </a:xfrm>
          <a:prstGeom prst="roundRect">
            <a:avLst>
              <a:gd name="adj" fmla="val 340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4901" y="1792039"/>
            <a:ext cx="3778300" cy="0"/>
          </a:xfrm>
          <a:prstGeom prst="line">
            <a:avLst/>
          </a:prstGeom>
          <a:noFill/>
          <a:ln w="47625">
            <a:solidFill>
              <a:srgbClr val="7B81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88802" y="2069753"/>
            <a:ext cx="333590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Disappearing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8802" y="2498378"/>
            <a:ext cx="3270498" cy="143693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as the main deliverable</a:t>
            </a:r>
            <a:endParaRPr lang="en-US" sz="1300" dirty="0"/>
          </a:p>
          <a:p>
            <a:pPr marL="114300" indent="-114300" algn="l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paid for typing speed</a:t>
            </a:r>
            <a:endParaRPr lang="en-US" sz="1300" dirty="0"/>
          </a:p>
          <a:p>
            <a:pPr marL="114300" indent="-114300" algn="l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"Just execute the spec" work</a:t>
            </a:r>
            <a:endParaRPr lang="en-US" sz="1300" dirty="0"/>
          </a:p>
          <a:p>
            <a:pPr marL="114300" indent="-114300" algn="l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hoarding as job security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30651" y="1768227"/>
            <a:ext cx="3778448" cy="2981623"/>
          </a:xfrm>
          <a:prstGeom prst="roundRect">
            <a:avLst>
              <a:gd name="adj" fmla="val 340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30651" y="1792039"/>
            <a:ext cx="3778448" cy="0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4552" y="2069753"/>
            <a:ext cx="33360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Rising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4552" y="2498378"/>
            <a:ext cx="3270647" cy="143693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as the deliverable</a:t>
            </a:r>
            <a:endParaRPr lang="en-US" sz="1300" dirty="0"/>
          </a:p>
          <a:p>
            <a:pPr marL="114300" indent="-114300" algn="l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paid for judgment</a:t>
            </a:r>
            <a:endParaRPr lang="en-US" sz="1300" dirty="0"/>
          </a:p>
          <a:p>
            <a:pPr marL="114300" indent="-114300" algn="l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problems deeply</a:t>
            </a:r>
            <a:endParaRPr lang="en-US" sz="1300" dirty="0"/>
          </a:p>
          <a:p>
            <a:pPr marL="114300" indent="-114300" algn="l">
              <a:lnSpc>
                <a:spcPts val="208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 to leverage AI tools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41375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4901" y="3555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Development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860375"/>
            <a:ext cx="80316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400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an opportunity, not a threat.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4901" y="1514326"/>
            <a:ext cx="57647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4901" y="1850827"/>
            <a:ext cx="5651748" cy="88880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write code. But it cannot understand WHY that code should exist.</a:t>
            </a:r>
            <a:endParaRPr lang="en-US" sz="1200" dirty="0"/>
          </a:p>
          <a:p>
            <a:pPr marL="101600" indent="-101600" algn="l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solutions. But it cannot validate if they solve the right problem.</a:t>
            </a:r>
            <a:endParaRPr lang="en-US" sz="1200" dirty="0"/>
          </a:p>
          <a:p>
            <a:pPr marL="101600" indent="-101600" algn="l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moves fast. But it cannot ensure the foundation is solid.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930128"/>
            <a:ext cx="5651748" cy="425351"/>
          </a:xfrm>
          <a:prstGeom prst="rect">
            <a:avLst/>
          </a:prstGeom>
          <a:solidFill>
            <a:srgbClr val="FFF3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58713" y="2930128"/>
            <a:ext cx="0" cy="425351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73026" y="3057079"/>
            <a:ext cx="53275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"Engineers who thrive will direct AI, not compete with it."</a:t>
            </a:r>
            <a:endParaRPr lang="en-US" sz="1200" dirty="0"/>
          </a:p>
        </p:txBody>
      </p:sp>
      <p:pic>
        <p:nvPicPr>
          <p:cNvPr id="11" name="Image 0" descr="/Users/hoangle/Documents/mymind/projects/innomize/yep2025/slides/assets/human-ai-col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99" y="2687538"/>
            <a:ext cx="1905000" cy="9525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19175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4901" y="38100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 We See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1292126"/>
            <a:ext cx="7874198" cy="2472779"/>
          </a:xfrm>
          <a:prstGeom prst="roundRect">
            <a:avLst>
              <a:gd name="adj" fmla="val 4109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292126"/>
            <a:ext cx="7874198" cy="425351"/>
          </a:xfrm>
          <a:prstGeom prst="roundRect">
            <a:avLst>
              <a:gd name="adj" fmla="val 17915"/>
            </a:avLst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5401" y="1419076"/>
            <a:ext cx="76430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MistakeThe Cost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5401" y="2274540"/>
            <a:ext cx="74931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5401" y="1971377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AI without understanding output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97068" y="1971377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debt multiplied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5401" y="2709416"/>
            <a:ext cx="74931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5401" y="2406253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Copying AI code without verification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97068" y="2406253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hidden in production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5401" y="3144292"/>
            <a:ext cx="74931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5401" y="2841129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Skipping fundamentals because "AI can help"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97068" y="2841129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Unable to debug when AI fails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401" y="3276005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AI as replacement for thinking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97068" y="3276005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Losing the skill to think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901" y="3955405"/>
            <a:ext cx="7874198" cy="723900"/>
          </a:xfrm>
          <a:prstGeom prst="rect">
            <a:avLst/>
          </a:prstGeom>
          <a:solidFill>
            <a:srgbClr val="FFF3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63476" y="3955405"/>
            <a:ext cx="0" cy="723900"/>
          </a:xfrm>
          <a:prstGeom prst="line">
            <a:avLst/>
          </a:prstGeom>
          <a:noFill/>
          <a:ln w="5715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0651" y="4107805"/>
            <a:ext cx="750704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amplifies what you already are.”. If your foundation is weak, AI makes you faster at building broken things.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30201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4901" y="2793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Mindset Gap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784175"/>
            <a:ext cx="8031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3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alone are not enough anymore.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1301651"/>
            <a:ext cx="3810149" cy="1737866"/>
          </a:xfrm>
          <a:prstGeom prst="roundRect">
            <a:avLst>
              <a:gd name="adj" fmla="val 584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4901" y="1325463"/>
            <a:ext cx="3810149" cy="0"/>
          </a:xfrm>
          <a:prstGeom prst="line">
            <a:avLst/>
          </a:prstGeom>
          <a:noFill/>
          <a:ln w="47625">
            <a:solidFill>
              <a:srgbClr val="7B81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7301" y="1501676"/>
            <a:ext cx="3575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Many Engineers Have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7301" y="1800076"/>
            <a:ext cx="3505349" cy="101084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skills</a:t>
            </a:r>
            <a:endParaRPr lang="en-US" sz="1100" dirty="0"/>
          </a:p>
          <a:p>
            <a:pPr marL="88900" indent="-88900" algn="l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knowledge</a:t>
            </a:r>
            <a:endParaRPr lang="en-US" sz="1100" dirty="0"/>
          </a:p>
          <a:p>
            <a:pPr marL="88900" indent="-88900" algn="l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 to complete tasks</a:t>
            </a:r>
            <a:endParaRPr lang="en-US" sz="1100" dirty="0"/>
          </a:p>
          <a:p>
            <a:pPr marL="88900" indent="-88900" algn="l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experience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98950" y="1301651"/>
            <a:ext cx="3810149" cy="1737866"/>
          </a:xfrm>
          <a:prstGeom prst="roundRect">
            <a:avLst>
              <a:gd name="adj" fmla="val 584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98950" y="1325463"/>
            <a:ext cx="3810149" cy="0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51350" y="1501676"/>
            <a:ext cx="3575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Actually Needed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51350" y="1800076"/>
            <a:ext cx="3505349" cy="101084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mentality</a:t>
            </a:r>
            <a:endParaRPr lang="en-US" sz="1100" dirty="0"/>
          </a:p>
          <a:p>
            <a:pPr marL="88900" indent="-88900" algn="l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thinking</a:t>
            </a:r>
            <a:endParaRPr lang="en-US" sz="1100" dirty="0"/>
          </a:p>
          <a:p>
            <a:pPr marL="88900" indent="-88900" algn="l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without prompting</a:t>
            </a:r>
            <a:endParaRPr lang="en-US" sz="1100" dirty="0"/>
          </a:p>
          <a:p>
            <a:pPr marL="88900" indent="-88900" algn="l">
              <a:lnSpc>
                <a:spcPts val="154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under uncertainty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4901" y="3242518"/>
            <a:ext cx="7874198" cy="977801"/>
          </a:xfrm>
          <a:prstGeom prst="roundRect">
            <a:avLst>
              <a:gd name="adj" fmla="val 1039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70721" y="3477518"/>
            <a:ext cx="1596479" cy="507802"/>
          </a:xfrm>
          <a:prstGeom prst="roundRect">
            <a:avLst>
              <a:gd name="adj" fmla="val 15006"/>
            </a:avLst>
          </a:prstGeom>
          <a:solidFill>
            <a:srgbClr val="E5E7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849066" y="3579019"/>
            <a:ext cx="12397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thinking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49066" y="3731419"/>
            <a:ext cx="12397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→ DO → BE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57700" y="3598069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D1D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76800" y="3477518"/>
            <a:ext cx="1596479" cy="507802"/>
          </a:xfrm>
          <a:prstGeom prst="roundRect">
            <a:avLst>
              <a:gd name="adj" fmla="val 15006"/>
            </a:avLst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55145" y="3579019"/>
            <a:ext cx="12397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thinking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55145" y="3731419"/>
            <a:ext cx="12397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→ DO → HAVE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4901" y="4321820"/>
            <a:ext cx="7874198" cy="425351"/>
          </a:xfrm>
          <a:prstGeom prst="rect">
            <a:avLst/>
          </a:prstGeom>
          <a:solidFill>
            <a:srgbClr val="FFF3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58713" y="4321820"/>
            <a:ext cx="0" cy="425351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73026" y="4448770"/>
            <a:ext cx="75944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the leader now. DO the work without the title. HAVE the results follow.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5001071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3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50" y="1322487"/>
            <a:ext cx="1015901" cy="50750"/>
          </a:xfrm>
          <a:prstGeom prst="roundRect">
            <a:avLst>
              <a:gd name="adj" fmla="val 500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09380" y="1690688"/>
            <a:ext cx="592524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Builder Mindset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715670" y="2436763"/>
            <a:ext cx="17126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0"/>
              </a:spcAft>
              <a:buNone/>
            </a:pPr>
            <a:r>
              <a:rPr lang="en-US" sz="2000" dirty="0">
                <a:solidFill>
                  <a:srgbClr val="FFC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&amp; BUILD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2577" y="3239988"/>
            <a:ext cx="1296739" cy="581025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677661" y="3411438"/>
            <a:ext cx="5065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33217" y="3239988"/>
            <a:ext cx="1420862" cy="581025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27060" y="3411438"/>
            <a:ext cx="63317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07980" y="3239988"/>
            <a:ext cx="1353294" cy="581025"/>
          </a:xfrm>
          <a:prstGeom prst="roundRect">
            <a:avLst>
              <a:gd name="adj" fmla="val 13115"/>
            </a:avLst>
          </a:prstGeom>
          <a:noFill/>
          <a:ln w="19050">
            <a:solidFill>
              <a:srgbClr val="FFC8B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02498" y="3411438"/>
            <a:ext cx="5642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46125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4901" y="317450"/>
            <a:ext cx="803168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Conversation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34901" y="803225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conversations across the team this year.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355675"/>
            <a:ext cx="7874198" cy="1958280"/>
          </a:xfrm>
          <a:prstGeom prst="roundRect">
            <a:avLst>
              <a:gd name="adj" fmla="val 518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1355675"/>
            <a:ext cx="7874198" cy="355402"/>
          </a:xfrm>
          <a:prstGeom prst="roundRect">
            <a:avLst>
              <a:gd name="adj" fmla="val 21441"/>
            </a:avLst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7301" y="1457176"/>
            <a:ext cx="38603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Observed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457176"/>
            <a:ext cx="38603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7301" y="2147441"/>
            <a:ext cx="75693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7301" y="1901428"/>
            <a:ext cx="36595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tasks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02051" y="1901428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68751" y="1901428"/>
            <a:ext cx="36597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initiative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7301" y="2487067"/>
            <a:ext cx="75693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7301" y="2241054"/>
            <a:ext cx="36595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want..." (wishes)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02051" y="2241054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68751" y="2241054"/>
            <a:ext cx="36597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will..." (actions)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7301" y="2826693"/>
            <a:ext cx="75693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7301" y="2580680"/>
            <a:ext cx="36595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"What's my task?"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02051" y="2580680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68751" y="2580680"/>
            <a:ext cx="36597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"What should exist?"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7301" y="2920305"/>
            <a:ext cx="36595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in discussions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02051" y="2920305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1D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68751" y="2920305"/>
            <a:ext cx="36597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Proposing solutions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4901" y="3466356"/>
            <a:ext cx="7874198" cy="596801"/>
          </a:xfrm>
          <a:prstGeom prst="rect">
            <a:avLst/>
          </a:prstGeom>
          <a:solidFill>
            <a:srgbClr val="FFF3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58713" y="3466356"/>
            <a:ext cx="0" cy="596801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73026" y="3654850"/>
            <a:ext cx="75944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"Everything just wishes – “I want’”, but no concrete actions."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596926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4901" y="381000"/>
            <a:ext cx="803168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34901" y="1149251"/>
            <a:ext cx="80316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600" dirty="0">
                <a:solidFill>
                  <a:srgbClr val="4E6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ownership before you're asked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4901" y="2342852"/>
            <a:ext cx="3778300" cy="0"/>
          </a:xfrm>
          <a:prstGeom prst="line">
            <a:avLst/>
          </a:prstGeom>
          <a:noFill/>
          <a:ln w="1905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4901" y="1869877"/>
            <a:ext cx="38538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 Shift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2504777"/>
            <a:ext cx="3778300" cy="139690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"waiting for task" to "what should I learn next?"</a:t>
            </a:r>
            <a:endParaRPr lang="en-US" sz="1200" dirty="0"/>
          </a:p>
          <a:p>
            <a:pPr marL="101600" indent="-101600" algn="l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"I don't know what I don't know" to "I will find out"</a:t>
            </a:r>
            <a:endParaRPr lang="en-US" sz="1200" dirty="0"/>
          </a:p>
          <a:p>
            <a:pPr marL="101600" indent="-101600" algn="l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blaming (company, others) to owning your growth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30651" y="2342852"/>
            <a:ext cx="3778448" cy="0"/>
          </a:xfrm>
          <a:prstGeom prst="line">
            <a:avLst/>
          </a:prstGeom>
          <a:noFill/>
          <a:ln w="1905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30651" y="1869877"/>
            <a:ext cx="38540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30651" y="2504777"/>
            <a:ext cx="3778448" cy="129525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system before you're asked</a:t>
            </a:r>
            <a:endParaRPr lang="en-US" sz="1200" dirty="0"/>
          </a:p>
          <a:p>
            <a:pPr marL="101600" indent="-101600" algn="l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issues before they become problems</a:t>
            </a:r>
            <a:endParaRPr lang="en-US" sz="1200" dirty="0"/>
          </a:p>
          <a:p>
            <a:pPr marL="101600" indent="-101600" algn="l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help. Do not wait to be rescued</a:t>
            </a:r>
            <a:endParaRPr lang="en-US" sz="1200" dirty="0"/>
          </a:p>
          <a:p>
            <a:pPr marL="101600" indent="-101600" algn="l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plan, not just wishes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495276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4901" y="317450"/>
            <a:ext cx="803168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80316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600" dirty="0">
                <a:solidFill>
                  <a:srgbClr val="4E6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tasks to solutions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4901" y="2155627"/>
            <a:ext cx="3778300" cy="0"/>
          </a:xfrm>
          <a:prstGeom prst="line">
            <a:avLst/>
          </a:prstGeom>
          <a:noFill/>
          <a:ln w="1905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4901" y="1742926"/>
            <a:ext cx="3853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Shift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2292102"/>
            <a:ext cx="3778300" cy="83165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→ Building (solutions, products)</a:t>
            </a:r>
            <a:endParaRPr lang="en-US" sz="1100" dirty="0"/>
          </a:p>
          <a:p>
            <a:pPr marL="88900" indent="-8890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→ Strategic Partner</a:t>
            </a:r>
            <a:endParaRPr lang="en-US" sz="1100" dirty="0"/>
          </a:p>
          <a:p>
            <a:pPr marL="88900" indent="-8890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sold → Value delivered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30651" y="2155627"/>
            <a:ext cx="3778448" cy="0"/>
          </a:xfrm>
          <a:prstGeom prst="line">
            <a:avLst/>
          </a:prstGeom>
          <a:noFill/>
          <a:ln w="1905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30651" y="1742926"/>
            <a:ext cx="38540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Focus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30651" y="2292102"/>
            <a:ext cx="3778448" cy="11427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Foundation: Solid fundamentals before speed</a:t>
            </a:r>
            <a:endParaRPr lang="en-US" sz="1100" dirty="0"/>
          </a:p>
          <a:p>
            <a:pPr marL="88900" indent="-8890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Intentional decisions, not accidents</a:t>
            </a:r>
            <a:endParaRPr lang="en-US" sz="1100" dirty="0"/>
          </a:p>
          <a:p>
            <a:pPr marL="88900" indent="-8890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Quality: Build it right, not just fast</a:t>
            </a:r>
            <a:endParaRPr lang="en-US" sz="1100" dirty="0"/>
          </a:p>
          <a:p>
            <a:pPr marL="88900" indent="-8890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Thinking: Understand the whole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4901" y="4286399"/>
            <a:ext cx="7874198" cy="463451"/>
          </a:xfrm>
          <a:prstGeom prst="rect">
            <a:avLst/>
          </a:prstGeom>
          <a:solidFill>
            <a:srgbClr val="FFF3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58713" y="4286399"/>
            <a:ext cx="0" cy="463451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3026" y="4413349"/>
            <a:ext cx="75944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"Clients don't need hands. They need minds."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19175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4901" y="38100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Actions for Builders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1292126"/>
            <a:ext cx="7874198" cy="2472779"/>
          </a:xfrm>
          <a:prstGeom prst="roundRect">
            <a:avLst>
              <a:gd name="adj" fmla="val 4109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292126"/>
            <a:ext cx="7874198" cy="425351"/>
          </a:xfrm>
          <a:prstGeom prst="roundRect">
            <a:avLst>
              <a:gd name="adj" fmla="val 17915"/>
            </a:avLst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5401" y="1419076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419076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5401" y="2274540"/>
            <a:ext cx="74931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5401" y="1971377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system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971377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wait for tasks to learn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5401" y="2709416"/>
            <a:ext cx="74931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401" y="2406253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early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406253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 does not mean isolation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5401" y="3144292"/>
            <a:ext cx="74931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5401" y="2841129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solutions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2841129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an opinion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5401" y="3276005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what you learn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276005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knowledge, not just code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4901" y="3955405"/>
            <a:ext cx="7874198" cy="504825"/>
          </a:xfrm>
          <a:prstGeom prst="rect">
            <a:avLst/>
          </a:prstGeom>
          <a:solidFill>
            <a:srgbClr val="FFF3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58713" y="3955405"/>
            <a:ext cx="0" cy="504825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3026" y="4107805"/>
            <a:ext cx="75944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have you done to understand the system? Or do you only learn when there's a task?"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3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50" y="1322487"/>
            <a:ext cx="1015901" cy="50750"/>
          </a:xfrm>
          <a:prstGeom prst="roundRect">
            <a:avLst>
              <a:gd name="adj" fmla="val 500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09380" y="1690688"/>
            <a:ext cx="592524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Builder Mindset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233627" y="2436763"/>
            <a:ext cx="67674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0"/>
              </a:spcAft>
              <a:buNone/>
            </a:pPr>
            <a:r>
              <a:rPr lang="en-US" sz="2000" dirty="0">
                <a:solidFill>
                  <a:srgbClr val="FFC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2577" y="3239988"/>
            <a:ext cx="1296739" cy="581025"/>
          </a:xfrm>
          <a:prstGeom prst="roundRect">
            <a:avLst>
              <a:gd name="adj" fmla="val 13115"/>
            </a:avLst>
          </a:prstGeom>
          <a:noFill/>
          <a:ln w="19050">
            <a:solidFill>
              <a:srgbClr val="FFC8B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677661" y="3411438"/>
            <a:ext cx="5065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33217" y="3239988"/>
            <a:ext cx="1420862" cy="581025"/>
          </a:xfrm>
          <a:prstGeom prst="roundRect">
            <a:avLst>
              <a:gd name="adj" fmla="val 13115"/>
            </a:avLst>
          </a:prstGeom>
          <a:noFill/>
          <a:ln w="19050">
            <a:solidFill>
              <a:srgbClr val="FFC8B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27060" y="3411438"/>
            <a:ext cx="63317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07980" y="3239988"/>
            <a:ext cx="1353294" cy="581025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02498" y="3411438"/>
            <a:ext cx="5642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469827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4901" y="317450"/>
            <a:ext cx="803168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34901" y="1085701"/>
            <a:ext cx="80316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600" dirty="0">
                <a:solidFill>
                  <a:srgbClr val="4E6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yourself first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4901" y="2092077"/>
            <a:ext cx="3778300" cy="0"/>
          </a:xfrm>
          <a:prstGeom prst="line">
            <a:avLst/>
          </a:prstGeom>
          <a:noFill/>
          <a:ln w="1905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4901" y="1679377"/>
            <a:ext cx="3853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Self-Leadership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2228552"/>
            <a:ext cx="3778300" cy="10668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purpose, not just habit</a:t>
            </a:r>
            <a:endParaRPr lang="en-US" sz="1100" dirty="0"/>
          </a:p>
          <a:p>
            <a:pPr marL="88900" indent="-88900" algn="l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decisions. Do not wait for permission</a:t>
            </a:r>
            <a:endParaRPr lang="en-US" sz="1100" dirty="0"/>
          </a:p>
          <a:p>
            <a:pPr marL="88900" indent="-88900" algn="l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proactively</a:t>
            </a:r>
            <a:endParaRPr lang="en-US" sz="1100" dirty="0"/>
          </a:p>
          <a:p>
            <a:pPr marL="88900" indent="-88900" algn="l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vision for your own growth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30651" y="2092077"/>
            <a:ext cx="3778448" cy="0"/>
          </a:xfrm>
          <a:prstGeom prst="line">
            <a:avLst/>
          </a:prstGeom>
          <a:noFill/>
          <a:ln w="1905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30651" y="1679377"/>
            <a:ext cx="38540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Leadership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30651" y="2228552"/>
            <a:ext cx="3778448" cy="10668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mindset over fixed mindset</a:t>
            </a:r>
            <a:endParaRPr lang="en-US" sz="1100" dirty="0"/>
          </a:p>
          <a:p>
            <a:pPr marL="88900" indent="-88900" algn="l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vision and purpose</a:t>
            </a:r>
            <a:endParaRPr lang="en-US" sz="1100" dirty="0"/>
          </a:p>
          <a:p>
            <a:pPr marL="88900" indent="-88900" algn="l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discussions need your voice</a:t>
            </a:r>
            <a:endParaRPr lang="en-US" sz="1100" dirty="0"/>
          </a:p>
          <a:p>
            <a:pPr marL="88900" indent="-88900" algn="l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Disagree, then commit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713" y="3880247"/>
            <a:ext cx="0" cy="507802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4926" y="4043292"/>
            <a:ext cx="76722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don't see anyone with opinions, no proposals."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4901" y="4514999"/>
            <a:ext cx="7874198" cy="425351"/>
          </a:xfrm>
          <a:prstGeom prst="roundRect">
            <a:avLst>
              <a:gd name="adj" fmla="val 17915"/>
            </a:avLst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0469" y="4641949"/>
            <a:ext cx="76430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2026, silence is not neutral. Silence is falling behind.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133326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4901" y="317450"/>
            <a:ext cx="803168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Mental Shifts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34901" y="790426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2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growth is not about titles. It is about what you deliver.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6109" y="1940755"/>
            <a:ext cx="1854250" cy="1372046"/>
          </a:xfrm>
          <a:prstGeom prst="roundRect">
            <a:avLst>
              <a:gd name="adj" fmla="val 7405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4901" y="1955776"/>
            <a:ext cx="1854250" cy="0"/>
          </a:xfrm>
          <a:prstGeom prst="line">
            <a:avLst/>
          </a:prstGeom>
          <a:noFill/>
          <a:ln w="47625">
            <a:solidFill>
              <a:srgbClr val="93A5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3014" y="2140780"/>
            <a:ext cx="15804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014" y="2369380"/>
            <a:ext cx="15804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 Task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3014" y="2680431"/>
            <a:ext cx="158043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fast</a:t>
            </a:r>
            <a:endParaRPr lang="en-US" sz="90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reliably</a:t>
            </a:r>
            <a:endParaRPr lang="en-US" sz="90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steadily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32758" y="1940755"/>
            <a:ext cx="1854250" cy="1372046"/>
          </a:xfrm>
          <a:prstGeom prst="roundRect">
            <a:avLst>
              <a:gd name="adj" fmla="val 7405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632758" y="1964568"/>
            <a:ext cx="1854250" cy="0"/>
          </a:xfrm>
          <a:prstGeom prst="line">
            <a:avLst/>
          </a:prstGeom>
          <a:noFill/>
          <a:ln w="47625">
            <a:solidFill>
              <a:srgbClr val="4E6E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69664" y="2140780"/>
            <a:ext cx="15804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69664" y="2369380"/>
            <a:ext cx="15804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 Project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69664" y="2680431"/>
            <a:ext cx="158043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scope</a:t>
            </a:r>
            <a:endParaRPr lang="en-US" sz="90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delivery</a:t>
            </a:r>
            <a:endParaRPr lang="en-US" sz="90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with team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39408" y="1940755"/>
            <a:ext cx="1854250" cy="1372046"/>
          </a:xfrm>
          <a:prstGeom prst="roundRect">
            <a:avLst>
              <a:gd name="adj" fmla="val 7405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39408" y="1964568"/>
            <a:ext cx="1854250" cy="0"/>
          </a:xfrm>
          <a:prstGeom prst="line">
            <a:avLst/>
          </a:prstGeom>
          <a:noFill/>
          <a:ln w="47625">
            <a:solidFill>
              <a:srgbClr val="F76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76314" y="2140780"/>
            <a:ext cx="15804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/ LEAD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6314" y="2369380"/>
            <a:ext cx="15804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Standards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76314" y="2680431"/>
            <a:ext cx="158043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best practices</a:t>
            </a:r>
            <a:endParaRPr lang="en-US" sz="90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others</a:t>
            </a:r>
            <a:endParaRPr lang="en-US" sz="90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process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54850" y="1931963"/>
            <a:ext cx="1854250" cy="1372046"/>
          </a:xfrm>
          <a:prstGeom prst="roundRect">
            <a:avLst>
              <a:gd name="adj" fmla="val 7405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654850" y="1955776"/>
            <a:ext cx="1854250" cy="0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82963" y="2140780"/>
            <a:ext cx="15804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82963" y="2369380"/>
            <a:ext cx="15804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 Team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82963" y="2680431"/>
            <a:ext cx="158043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people</a:t>
            </a:r>
            <a:endParaRPr lang="en-US" sz="90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priorities</a:t>
            </a:r>
            <a:endParaRPr lang="en-US" sz="90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through others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4901" y="4388048"/>
            <a:ext cx="7874198" cy="425351"/>
          </a:xfrm>
          <a:prstGeom prst="rect">
            <a:avLst/>
          </a:prstGeom>
          <a:solidFill>
            <a:srgbClr val="FFF3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58713" y="4388048"/>
            <a:ext cx="0" cy="425351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73026" y="4514999"/>
            <a:ext cx="75944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title follows the mindset, not the other way around.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34926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4901" y="279350"/>
            <a:ext cx="803168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Builder's Evolution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38225" y="1717477"/>
            <a:ext cx="1703784" cy="729853"/>
          </a:xfrm>
          <a:prstGeom prst="roundRect">
            <a:avLst>
              <a:gd name="adj" fmla="val 10440"/>
            </a:avLst>
          </a:prstGeom>
          <a:solidFill>
            <a:srgbClr val="F8F8F8"/>
          </a:solidFill>
          <a:ln w="9525">
            <a:solidFill>
              <a:srgbClr val="D1D3D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225213" y="1828502"/>
            <a:ext cx="13298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225213" y="1987153"/>
            <a:ext cx="13298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Spotter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25213" y="2222004"/>
            <a:ext cx="13298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problems, reports them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995910" y="1771055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3000"/>
              </a:spcAft>
              <a:buNone/>
            </a:pPr>
            <a:r>
              <a:rPr lang="en-US" sz="2000" dirty="0">
                <a:solidFill>
                  <a:srgbClr val="D1D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3503861" y="1717477"/>
            <a:ext cx="1794123" cy="729853"/>
          </a:xfrm>
          <a:prstGeom prst="roundRect">
            <a:avLst>
              <a:gd name="adj" fmla="val 10440"/>
            </a:avLst>
          </a:prstGeom>
          <a:solidFill>
            <a:srgbClr val="F8F8F8"/>
          </a:solidFill>
          <a:ln w="9525">
            <a:solidFill>
              <a:srgbClr val="D1D3D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689945" y="1828502"/>
            <a:ext cx="1421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689945" y="1987153"/>
            <a:ext cx="14219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89945" y="2222004"/>
            <a:ext cx="14219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problems when assigned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551884" y="1771055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3000"/>
              </a:spcAft>
              <a:buNone/>
            </a:pPr>
            <a:r>
              <a:rPr lang="en-US" sz="2000" dirty="0">
                <a:solidFill>
                  <a:srgbClr val="D1D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059835" y="1736527"/>
            <a:ext cx="2045940" cy="710803"/>
          </a:xfrm>
          <a:prstGeom prst="roundRect">
            <a:avLst>
              <a:gd name="adj" fmla="val 10720"/>
            </a:avLst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6233685" y="1838027"/>
            <a:ext cx="16982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FFC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233685" y="1996678"/>
            <a:ext cx="16982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233685" y="2231529"/>
            <a:ext cx="16982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C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problems, creates solutions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634901" y="2599730"/>
            <a:ext cx="7874198" cy="1403300"/>
          </a:xfrm>
          <a:prstGeom prst="roundRect">
            <a:avLst>
              <a:gd name="adj" fmla="val 724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34901" y="2599730"/>
            <a:ext cx="7874198" cy="295275"/>
          </a:xfrm>
          <a:prstGeom prst="roundRect">
            <a:avLst>
              <a:gd name="adj" fmla="val 25806"/>
            </a:avLst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761851" y="2675930"/>
            <a:ext cx="3886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Task-Taker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572000" y="2675930"/>
            <a:ext cx="3886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61851" y="3271242"/>
            <a:ext cx="76202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761851" y="3047405"/>
            <a:ext cx="3886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Waits for instructions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572000" y="3047405"/>
            <a:ext cx="3886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Seeks to understand the system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761851" y="3576042"/>
            <a:ext cx="7620298" cy="0"/>
          </a:xfrm>
          <a:prstGeom prst="line">
            <a:avLst/>
          </a:prstGeom>
          <a:noFill/>
          <a:ln w="9525">
            <a:solidFill>
              <a:srgbClr val="D1D3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761851" y="3352205"/>
            <a:ext cx="3886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what's assigned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572000" y="3352205"/>
            <a:ext cx="3886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"What problem are we solving?"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761851" y="3657005"/>
            <a:ext cx="3886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don't know" = stop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4572000" y="3657005"/>
            <a:ext cx="3886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don't know" = go find out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95400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4901" y="38100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Coming in 2026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885825"/>
            <a:ext cx="8031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3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primary activities and direction.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1568351"/>
            <a:ext cx="3778300" cy="3245048"/>
          </a:xfrm>
          <a:prstGeom prst="roundRect">
            <a:avLst>
              <a:gd name="adj" fmla="val 313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4901" y="1592163"/>
            <a:ext cx="3778300" cy="0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3501" y="1844576"/>
            <a:ext cx="33875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XTND Platform Partnership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3501" y="2206526"/>
            <a:ext cx="3321100" cy="15618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product development with our </a:t>
            </a:r>
            <a:r>
              <a:rPr lang="en-US" sz="1100" b="1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TCE</a:t>
            </a: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partner</a:t>
            </a:r>
            <a:endParaRPr lang="en-US" sz="1100" dirty="0"/>
          </a:p>
          <a:p>
            <a:pPr marL="88900" indent="-8890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multi-tenant platform, not staff augmentation</a:t>
            </a:r>
            <a:endParaRPr lang="en-US" sz="1100" dirty="0"/>
          </a:p>
          <a:p>
            <a:pPr marL="88900" indent="-8890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partners, not vendors</a:t>
            </a:r>
            <a:endParaRPr lang="en-US" sz="1100" dirty="0"/>
          </a:p>
          <a:p>
            <a:pPr marL="88900" indent="-8890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how Builders work: owning outcomes, not just tasks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30651" y="1568351"/>
            <a:ext cx="3778448" cy="3245048"/>
          </a:xfrm>
          <a:prstGeom prst="roundRect">
            <a:avLst>
              <a:gd name="adj" fmla="val 313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30651" y="1592163"/>
            <a:ext cx="3778448" cy="0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59251" y="1844576"/>
            <a:ext cx="33876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Mize Studio - Our Product Direction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59251" y="2206526"/>
            <a:ext cx="3321248" cy="15618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Separating Building from Consulting</a:t>
            </a:r>
            <a:endParaRPr lang="en-US" sz="1100" dirty="0"/>
          </a:p>
          <a:p>
            <a:pPr marL="88900" indent="-8890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INNOMIZE</a:t>
            </a: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Consulting, custom development, services</a:t>
            </a:r>
            <a:endParaRPr lang="en-US" sz="1100" dirty="0"/>
          </a:p>
          <a:p>
            <a:pPr marL="88900" indent="-8890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Mize Studio</a:t>
            </a: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Products, frameworks, tools for builders</a:t>
            </a:r>
            <a:endParaRPr lang="en-US" sz="1100" dirty="0"/>
          </a:p>
          <a:p>
            <a:pPr marL="88900" indent="-88900" algn="l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Planning: </a:t>
            </a:r>
            <a:r>
              <a:rPr lang="en-US" sz="1100" b="1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Mizestack</a:t>
            </a:r>
            <a:r>
              <a:rPr lang="en-US" sz="1100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00" b="1" dirty="0">
                <a:solidFill>
                  <a:srgbClr val="535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Mizemind</a:t>
            </a:r>
            <a:endParaRPr lang="en-US" sz="1100" b="1" dirty="0"/>
          </a:p>
        </p:txBody>
      </p:sp>
      <p:sp>
        <p:nvSpPr>
          <p:cNvPr id="14" name="Text 12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81075"/>
            <a:ext cx="9144000" cy="0"/>
          </a:xfrm>
          <a:prstGeom prst="line">
            <a:avLst/>
          </a:prstGeom>
          <a:noFill/>
          <a:ln w="3810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4901" y="38100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Every Team Member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96975" y="1671638"/>
            <a:ext cx="7549902" cy="1574750"/>
          </a:xfrm>
          <a:prstGeom prst="rect">
            <a:avLst/>
          </a:prstGeom>
          <a:solidFill>
            <a:srgbClr val="FFF3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25550" y="1671638"/>
            <a:ext cx="0" cy="1574750"/>
          </a:xfrm>
          <a:prstGeom prst="line">
            <a:avLst/>
          </a:prstGeom>
          <a:noFill/>
          <a:ln w="57150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08025" y="1967642"/>
            <a:ext cx="712464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2025, many of us were waiting. Waiting for tasks. Waiting for instructions. Waiting for someone to decide.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8025" y="2627992"/>
            <a:ext cx="71246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2E3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2026, we need builders, not waiters.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08025" y="2789188"/>
            <a:ext cx="71246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74973" y="3436888"/>
            <a:ext cx="7193905" cy="831652"/>
          </a:xfrm>
          <a:prstGeom prst="roundRect">
            <a:avLst>
              <a:gd name="adj" fmla="val 12217"/>
            </a:avLst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26833" y="3614589"/>
            <a:ext cx="6690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"Work for yourself, even when you work for someone else."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26833" y="3852714"/>
            <a:ext cx="6690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việc cho chính mình, ngay cả khi bạn làm việc cho người khác.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4E6E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17521" y="843260"/>
            <a:ext cx="310880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Mindset</a:t>
            </a:r>
            <a:endParaRPr lang="en-US" sz="3200" dirty="0"/>
          </a:p>
        </p:txBody>
      </p:sp>
      <p:pic>
        <p:nvPicPr>
          <p:cNvPr id="4" name="Image 0" descr="/Users/hoangle/Documents/mymind/projects/innomize/yep2025/slides/assets/own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205" y="1563886"/>
            <a:ext cx="507950" cy="507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859" y="2211437"/>
            <a:ext cx="1486793" cy="441127"/>
          </a:xfrm>
          <a:prstGeom prst="roundRect">
            <a:avLst>
              <a:gd name="adj" fmla="val 17274"/>
            </a:avLst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320790" y="2312938"/>
            <a:ext cx="8689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96991" y="2728764"/>
            <a:ext cx="1516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ownership before asked</a:t>
            </a:r>
            <a:endParaRPr lang="en-US" sz="900" dirty="0"/>
          </a:p>
        </p:txBody>
      </p:sp>
      <p:pic>
        <p:nvPicPr>
          <p:cNvPr id="8" name="Image 1" descr="/Users/hoangle/Documents/mymind/projects/innomize/yep2025/slides/assets/build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374" y="1563886"/>
            <a:ext cx="507950" cy="5079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43052" y="2211437"/>
            <a:ext cx="1556593" cy="441127"/>
          </a:xfrm>
          <a:prstGeom prst="roundRect">
            <a:avLst>
              <a:gd name="adj" fmla="val 17274"/>
            </a:avLst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251286" y="2312938"/>
            <a:ext cx="9401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927486" y="2728764"/>
            <a:ext cx="15877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solutions, not just tasks</a:t>
            </a:r>
            <a:endParaRPr lang="en-US" sz="900" dirty="0"/>
          </a:p>
        </p:txBody>
      </p:sp>
      <p:pic>
        <p:nvPicPr>
          <p:cNvPr id="12" name="Image 2" descr="/Users/hoangle/Documents/mymind/projects/innomize/yep2025/slides/assets/lead-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4119" y="1563886"/>
            <a:ext cx="507950" cy="5079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44046" y="2211437"/>
            <a:ext cx="1188095" cy="441127"/>
          </a:xfrm>
          <a:prstGeom prst="roundRect">
            <a:avLst>
              <a:gd name="adj" fmla="val 17274"/>
            </a:avLst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255965" y="2312938"/>
            <a:ext cx="5642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932166" y="2728764"/>
            <a:ext cx="12118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yourself first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2663815" y="3179564"/>
            <a:ext cx="38163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one builds a house by waiting for bricks to fall."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024958" y="3455789"/>
            <a:ext cx="30940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1100" i="1" dirty="0">
                <a:solidFill>
                  <a:srgbClr val="93A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ai xây nhà bằng cách chờ gạch rơi xuống.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272402" y="3862090"/>
            <a:ext cx="25990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Solutions. Better Lives!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1064</Words>
  <Application>Microsoft Macintosh PowerPoint</Application>
  <PresentationFormat>On-screen Show (16:9)</PresentationFormat>
  <Paragraphs>222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INNOMIZE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Year-End Review 2025 &amp; Vision for 2026</dc:title>
  <dc:subject>Builder Mindset - OWN BUILD LEAD</dc:subject>
  <dc:creator>INNOMIZE</dc:creator>
  <cp:lastModifiedBy>Hoang Le</cp:lastModifiedBy>
  <cp:revision>9</cp:revision>
  <dcterms:created xsi:type="dcterms:W3CDTF">2026-02-05T08:14:42Z</dcterms:created>
  <dcterms:modified xsi:type="dcterms:W3CDTF">2026-02-05T10:16:11Z</dcterms:modified>
</cp:coreProperties>
</file>