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72802" y="1181249"/>
            <a:ext cx="519824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Review 2025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588002" y="1844725"/>
            <a:ext cx="19679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Vision for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87897" y="2647950"/>
            <a:ext cx="1485602" cy="660202"/>
          </a:xfrm>
          <a:prstGeom prst="roundRect">
            <a:avLst>
              <a:gd name="adj" fmla="val 11542"/>
            </a:avLst>
          </a:prstGeom>
          <a:noFill/>
          <a:ln w="19050">
            <a:solidFill>
              <a:srgbClr val="EA32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45761" y="2844701"/>
            <a:ext cx="56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27400" y="2647950"/>
            <a:ext cx="1625352" cy="660202"/>
          </a:xfrm>
          <a:prstGeom prst="roundRect">
            <a:avLst>
              <a:gd name="adj" fmla="val 11542"/>
            </a:avLst>
          </a:prstGeom>
          <a:noFill/>
          <a:ln w="19050">
            <a:solidFill>
              <a:srgbClr val="EA32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83867" y="2844701"/>
            <a:ext cx="712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06653" y="2647950"/>
            <a:ext cx="1549301" cy="660202"/>
          </a:xfrm>
          <a:prstGeom prst="roundRect">
            <a:avLst>
              <a:gd name="adj" fmla="val 11542"/>
            </a:avLst>
          </a:prstGeom>
          <a:noFill/>
          <a:ln w="19050">
            <a:solidFill>
              <a:srgbClr val="EA32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3880" y="2844701"/>
            <a:ext cx="6348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7325" y="3752552"/>
            <a:ext cx="41092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one builds a house by waiting for bricks to fall."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-91440" y="4673650"/>
            <a:ext cx="932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 | December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1227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444401"/>
            <a:ext cx="80316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56159" y="2803178"/>
            <a:ext cx="8031682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spcBef>
                <a:spcPts val="2000"/>
              </a:spcBef>
              <a:buNone/>
            </a:pPr>
            <a:r>
              <a:rPr lang="en-US" sz="2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showing up, staying committed, and building with us through a year of uncertainty.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31727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44440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Shift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012627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is changing faster than ever.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768227"/>
            <a:ext cx="3778300" cy="2981623"/>
          </a:xfrm>
          <a:prstGeom prst="roundRect">
            <a:avLst>
              <a:gd name="adj" fmla="val 340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792039"/>
            <a:ext cx="3778300" cy="0"/>
          </a:xfrm>
          <a:prstGeom prst="line">
            <a:avLst/>
          </a:prstGeom>
          <a:noFill/>
          <a:ln w="47625">
            <a:solidFill>
              <a:srgbClr val="7B81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802" y="2069753"/>
            <a:ext cx="33359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Disappearing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8802" y="2498378"/>
            <a:ext cx="3270498" cy="143693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as the main deliverable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paid for typing speed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"Just execute the spec" work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hoarding as job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30651" y="1768227"/>
            <a:ext cx="3778448" cy="2981623"/>
          </a:xfrm>
          <a:prstGeom prst="roundRect">
            <a:avLst>
              <a:gd name="adj" fmla="val 340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0651" y="1792039"/>
            <a:ext cx="3778448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4552" y="2069753"/>
            <a:ext cx="33360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Rising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4552" y="2498378"/>
            <a:ext cx="3270647" cy="143693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as the deliverable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paid for judgment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problems deeply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leverage AI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60302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44440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Development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012627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opportunity, not a threat.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796802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01" y="2187327"/>
            <a:ext cx="7874198" cy="10566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write code. But it cannot understand WHY that code should exist</a:t>
            </a:r>
            <a:endParaRPr lang="en-US" sz="14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solutions. But it cannot validate if they solve the right problem</a:t>
            </a:r>
            <a:endParaRPr lang="en-US" sz="14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moves fast. But it cannot ensure the foundation is solid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61457"/>
            <a:ext cx="7874198" cy="600075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63476" y="3561457"/>
            <a:ext cx="0" cy="600075"/>
          </a:xfrm>
          <a:prstGeom prst="line">
            <a:avLst/>
          </a:prstGeom>
          <a:noFill/>
          <a:ln w="57150">
            <a:solidFill>
              <a:srgbClr val="EA3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5952" y="3751957"/>
            <a:ext cx="74554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"Engineers who thrive will direct AI, not compete with it."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191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We 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292126"/>
            <a:ext cx="7874198" cy="2472779"/>
          </a:xfrm>
          <a:prstGeom prst="roundRect">
            <a:avLst>
              <a:gd name="adj" fmla="val 410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292126"/>
            <a:ext cx="7874198" cy="425351"/>
          </a:xfrm>
          <a:prstGeom prst="roundRect">
            <a:avLst>
              <a:gd name="adj" fmla="val 17915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5401" y="1419076"/>
            <a:ext cx="7643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Mistake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5401" y="2274540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401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without understanding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97068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multiplied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5401" y="2709416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401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AI code without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7068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hidden in production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401" y="3144292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401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fundamentals because "AI can help"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97068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Unable to debug when AI fails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401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AI as replacement for thinking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7068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the skill to think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901" y="3955405"/>
            <a:ext cx="7874198" cy="723900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3476" y="3955405"/>
            <a:ext cx="0" cy="723900"/>
          </a:xfrm>
          <a:prstGeom prst="line">
            <a:avLst/>
          </a:prstGeom>
          <a:noFill/>
          <a:ln w="57150">
            <a:solidFill>
              <a:srgbClr val="EA3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651" y="4107805"/>
            <a:ext cx="750704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amplifies what you already are." If your foundation is weak, AI makes you faster at building broken things.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0201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279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Mindset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784175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alone are not enough anymore.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301651"/>
            <a:ext cx="3810149" cy="1737866"/>
          </a:xfrm>
          <a:prstGeom prst="roundRect">
            <a:avLst>
              <a:gd name="adj" fmla="val 58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325463"/>
            <a:ext cx="3810149" cy="0"/>
          </a:xfrm>
          <a:prstGeom prst="line">
            <a:avLst/>
          </a:prstGeom>
          <a:noFill/>
          <a:ln w="47625">
            <a:solidFill>
              <a:srgbClr val="7B81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501676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Many Engineers Have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301" y="1800076"/>
            <a:ext cx="3505349" cy="10108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knowledge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complete tasks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1301651"/>
            <a:ext cx="3810149" cy="1737866"/>
          </a:xfrm>
          <a:prstGeom prst="roundRect">
            <a:avLst>
              <a:gd name="adj" fmla="val 58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325463"/>
            <a:ext cx="3810149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350" y="1501676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Needed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1350" y="1800076"/>
            <a:ext cx="3505349" cy="10108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mentality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without prompting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under uncertainty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901" y="3242518"/>
            <a:ext cx="7874198" cy="977801"/>
          </a:xfrm>
          <a:prstGeom prst="roundRect">
            <a:avLst>
              <a:gd name="adj" fmla="val 1039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70721" y="3477518"/>
            <a:ext cx="1596479" cy="507802"/>
          </a:xfrm>
          <a:prstGeom prst="roundRect">
            <a:avLst>
              <a:gd name="adj" fmla="val 15006"/>
            </a:avLst>
          </a:prstGeom>
          <a:solidFill>
            <a:srgbClr val="E5E7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49066" y="35790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thinking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9066" y="37314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→ DO → BE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57700" y="359806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76800" y="3477518"/>
            <a:ext cx="1596479" cy="507802"/>
          </a:xfrm>
          <a:prstGeom prst="roundRect">
            <a:avLst>
              <a:gd name="adj" fmla="val 15006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55145" y="35790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55145" y="37314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→ DO → HAVE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4901" y="4321820"/>
            <a:ext cx="7874198" cy="4253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8713" y="4321820"/>
            <a:ext cx="0" cy="4253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026" y="4448770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leader now. DO the work without the title. HAVE the results follow.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5001071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32248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09380" y="1690688"/>
            <a:ext cx="59252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Builder Mindset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15670" y="2436763"/>
            <a:ext cx="17126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&amp; BUILD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2577" y="3239988"/>
            <a:ext cx="1296739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7661" y="3411438"/>
            <a:ext cx="5065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33217" y="3239988"/>
            <a:ext cx="1420862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27060" y="3411438"/>
            <a:ext cx="6331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7980" y="3239988"/>
            <a:ext cx="1353294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FFC8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2498" y="3411438"/>
            <a:ext cx="564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4612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174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Conversation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803225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conversations across the team this year.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355675"/>
            <a:ext cx="7874198" cy="1958280"/>
          </a:xfrm>
          <a:prstGeom prst="roundRect">
            <a:avLst>
              <a:gd name="adj" fmla="val 518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355675"/>
            <a:ext cx="7874198" cy="355402"/>
          </a:xfrm>
          <a:prstGeom prst="roundRect">
            <a:avLst>
              <a:gd name="adj" fmla="val 21441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7301" y="145717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Observed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45717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7301" y="2147441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301" y="1901428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2051" y="1901428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8751" y="1901428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initiative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7301" y="2487067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301" y="2241054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want..." (wishes)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2051" y="2241054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8751" y="2241054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will..." (actions)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7301" y="2826693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301" y="2580680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"What's my task?"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2051" y="2580680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8751" y="2580680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"What should exist?"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301" y="2920305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in discussions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02051" y="2920305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8751" y="2920305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Proposing solutions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901" y="3466356"/>
            <a:ext cx="7874198" cy="59680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8713" y="3466356"/>
            <a:ext cx="0" cy="59680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026" y="3593306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is just wishes — 'I want' — but no concrete actions."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3026" y="3764756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đều chỉ là mong muốn — nhưng không có hành động cụ thể.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59692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81000"/>
            <a:ext cx="803168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4901" y="1149251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ownership before you're asked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901" y="2342852"/>
            <a:ext cx="3778300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869877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Shift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504777"/>
            <a:ext cx="3778300" cy="139690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"waiting for task" to "what should I learn next?"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"I don't know what I don't know" to "I will find out"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blaming (company, others) to owning your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0651" y="2342852"/>
            <a:ext cx="3778448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0651" y="1869877"/>
            <a:ext cx="3854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0651" y="2504777"/>
            <a:ext cx="3778448" cy="12952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system before you're asked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issues before they become problems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help. Do not wait to be rescued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plan, not just wishes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9527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17450"/>
            <a:ext cx="803168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tasks to solutions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901" y="2155627"/>
            <a:ext cx="3778300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742926"/>
            <a:ext cx="3853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Shift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292102"/>
            <a:ext cx="3778300" cy="8316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→ Building (solutions, products)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→ Strategic Partner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sold → Value delivered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0651" y="2155627"/>
            <a:ext cx="3778448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0651" y="1742926"/>
            <a:ext cx="3854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0651" y="2292102"/>
            <a:ext cx="3778448" cy="1142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Solid fundamentals before speed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Intentional decisions, not accidents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Build it right, not just fast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Thinking: Understand the whole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4286399"/>
            <a:ext cx="7874198" cy="4634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4286399"/>
            <a:ext cx="0" cy="4634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026" y="4413349"/>
            <a:ext cx="75944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"Clients don't need hands. They need minds."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191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Actions for Builders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292126"/>
            <a:ext cx="7874198" cy="2472779"/>
          </a:xfrm>
          <a:prstGeom prst="roundRect">
            <a:avLst>
              <a:gd name="adj" fmla="val 410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292126"/>
            <a:ext cx="7874198" cy="425351"/>
          </a:xfrm>
          <a:prstGeom prst="roundRect">
            <a:avLst>
              <a:gd name="adj" fmla="val 17915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5401" y="1419076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9076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5401" y="2274540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401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wait for tasks to learn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5401" y="2709416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401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early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does not mean isolation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5401" y="3144292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401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solutions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an opinion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5401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what you learn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knowledge, not just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01" y="3955405"/>
            <a:ext cx="7874198" cy="504825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8713" y="3955405"/>
            <a:ext cx="0" cy="504825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026" y="4107805"/>
            <a:ext cx="7594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have you done to understand the system? Or do you only learn when there's a task?"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32248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09380" y="1690688"/>
            <a:ext cx="59252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Builder Mindset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233627" y="2436763"/>
            <a:ext cx="6767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2577" y="3239988"/>
            <a:ext cx="1296739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FFC8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7661" y="3411438"/>
            <a:ext cx="5065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33217" y="3239988"/>
            <a:ext cx="1420862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FFC8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27060" y="3411438"/>
            <a:ext cx="6331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7980" y="3239988"/>
            <a:ext cx="1353294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2498" y="3411438"/>
            <a:ext cx="564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69827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17450"/>
            <a:ext cx="803168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yourself first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901" y="2092077"/>
            <a:ext cx="3778300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679377"/>
            <a:ext cx="3853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Self-Leadership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228552"/>
            <a:ext cx="3778300" cy="1066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purpose, not just habit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decisions. Do not wait for permission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proactively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vision for your own growth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0651" y="2092077"/>
            <a:ext cx="3778448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0651" y="1679377"/>
            <a:ext cx="3854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0651" y="2228552"/>
            <a:ext cx="3778448" cy="1066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 over fixed mindset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vision and purpose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discussions need your voice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Disagree, then commit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3880247"/>
            <a:ext cx="7874198" cy="507802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3880247"/>
            <a:ext cx="0" cy="507802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926" y="3981748"/>
            <a:ext cx="76722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see anyone with opinions, no proposals."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4926" y="4134148"/>
            <a:ext cx="76722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 không thấy ai có ý kiến gì hết, không đề xuất.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4514999"/>
            <a:ext cx="7874198" cy="425351"/>
          </a:xfrm>
          <a:prstGeom prst="roundRect">
            <a:avLst>
              <a:gd name="adj" fmla="val 17915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0469" y="4641949"/>
            <a:ext cx="7643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silence is not neutral. Silence is falling behind.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332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174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Mental Shifts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790426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growth is not about titles. It is about what you deliver.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342876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366689"/>
            <a:ext cx="1854250" cy="0"/>
          </a:xfrm>
          <a:prstGeom prst="line">
            <a:avLst/>
          </a:prstGeom>
          <a:noFill/>
          <a:ln w="47625">
            <a:solidFill>
              <a:srgbClr val="93A5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806" y="1542901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1806" y="1771501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Task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1806" y="2082552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fast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reliably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steadily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41550" y="1342876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641550" y="1366689"/>
            <a:ext cx="1854250" cy="0"/>
          </a:xfrm>
          <a:prstGeom prst="line">
            <a:avLst/>
          </a:prstGeom>
          <a:noFill/>
          <a:ln w="47625">
            <a:solidFill>
              <a:srgbClr val="4E6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8456" y="1542901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8456" y="1771501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Project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78456" y="2082552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scope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delivery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team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8200" y="1342876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8200" y="1366689"/>
            <a:ext cx="1854250" cy="0"/>
          </a:xfrm>
          <a:prstGeom prst="line">
            <a:avLst/>
          </a:prstGeom>
          <a:noFill/>
          <a:ln w="47625">
            <a:solidFill>
              <a:srgbClr val="F76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5106" y="1542901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/ LEAD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5106" y="1771501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Standards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85106" y="2082552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best practices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others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54850" y="1342876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654850" y="1366689"/>
            <a:ext cx="1854250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1755" y="1542901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91755" y="1771501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Team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91755" y="2082552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people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priorities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through others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4901" y="4388048"/>
            <a:ext cx="7874198" cy="4253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8713" y="4388048"/>
            <a:ext cx="0" cy="4253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026" y="4514999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title follows the mindset, not the other way around.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752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174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Builder's 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93750"/>
            <a:ext cx="2050852" cy="939701"/>
          </a:xfrm>
          <a:prstGeom prst="roundRect">
            <a:avLst>
              <a:gd name="adj" fmla="val 10812"/>
            </a:avLst>
          </a:prstGeom>
          <a:solidFill>
            <a:srgbClr val="F8F8F8"/>
          </a:solidFill>
          <a:ln w="9525">
            <a:solidFill>
              <a:srgbClr val="D1D3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3087" y="1355675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3087" y="1549301"/>
            <a:ext cx="1554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3087" y="183817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problems, reports them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76252" y="1487388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71552" y="1127075"/>
            <a:ext cx="2084040" cy="1073051"/>
          </a:xfrm>
          <a:prstGeom prst="roundRect">
            <a:avLst>
              <a:gd name="adj" fmla="val 9468"/>
            </a:avLst>
          </a:prstGeom>
          <a:solidFill>
            <a:srgbClr val="F8F8F8"/>
          </a:solidFill>
          <a:ln w="9525">
            <a:solidFill>
              <a:srgbClr val="D1D3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19406" y="1289000"/>
            <a:ext cx="1588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9406" y="1482626"/>
            <a:ext cx="15883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9406" y="1771501"/>
            <a:ext cx="1588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problems when assigned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46093" y="1487388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393" y="1136600"/>
            <a:ext cx="2367707" cy="1054001"/>
          </a:xfrm>
          <a:prstGeom prst="roundRect">
            <a:avLst>
              <a:gd name="adj" fmla="val 9639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76694" y="1289000"/>
            <a:ext cx="1897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6694" y="1482626"/>
            <a:ext cx="1897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6694" y="1771501"/>
            <a:ext cx="18971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problems, creates solutions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390626"/>
            <a:ext cx="7874198" cy="1694557"/>
          </a:xfrm>
          <a:prstGeom prst="roundRect">
            <a:avLst>
              <a:gd name="adj" fmla="val 599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901" y="2390626"/>
            <a:ext cx="7874198" cy="355402"/>
          </a:xfrm>
          <a:prstGeom prst="roundRect">
            <a:avLst>
              <a:gd name="adj" fmla="val 21441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7301" y="2492127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Task-Taker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492127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7301" y="3207693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7301" y="2949029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 for instructions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2949029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Seeks to understand the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7301" y="3572619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301" y="331395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what's assigned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31395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"What problem are we solving?"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7301" y="3678882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know" = stop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678882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know" = go find out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95400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 in 2026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885825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primary activities and direction.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568351"/>
            <a:ext cx="3778300" cy="3245048"/>
          </a:xfrm>
          <a:prstGeom prst="roundRect">
            <a:avLst>
              <a:gd name="adj" fmla="val 313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592163"/>
            <a:ext cx="3778300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501" y="1844576"/>
            <a:ext cx="33875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XTND Platform Partnership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3501" y="2206526"/>
            <a:ext cx="3321100" cy="1561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product development with our TCE partner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multi-tenant platform, not staff augmentation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partners, not vendors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Builders work: owning outcomes, not just tasks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0651" y="1568351"/>
            <a:ext cx="3778448" cy="3245048"/>
          </a:xfrm>
          <a:prstGeom prst="roundRect">
            <a:avLst>
              <a:gd name="adj" fmla="val 313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0651" y="1592163"/>
            <a:ext cx="3778448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9251" y="1844576"/>
            <a:ext cx="3387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Mize Studio — Our Product Direction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9251" y="2206526"/>
            <a:ext cx="3321248" cy="1561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Building from Consulting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 = Consulting, custom development, services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Mize Studio = Products, frameworks, tools for builders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Exploring: MizeStack, MizeForge, MizeMind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810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Every Team Member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96975" y="1671638"/>
            <a:ext cx="7549902" cy="1574750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5550" y="1671638"/>
            <a:ext cx="0" cy="1574750"/>
          </a:xfrm>
          <a:prstGeom prst="line">
            <a:avLst/>
          </a:prstGeom>
          <a:noFill/>
          <a:ln w="57150">
            <a:solidFill>
              <a:srgbClr val="EA3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8025" y="1862138"/>
            <a:ext cx="71246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2025, many of us were waiting. Waiting for tasks. Waiting for instructions. Waiting for someone to decide.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8025" y="2522488"/>
            <a:ext cx="7124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we need builders, not waiters.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08025" y="2789188"/>
            <a:ext cx="7124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2026, chúng ta cần người xây dựng, không phải người chờ đợi.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4973" y="3436888"/>
            <a:ext cx="7193905" cy="831652"/>
          </a:xfrm>
          <a:prstGeom prst="roundRect">
            <a:avLst>
              <a:gd name="adj" fmla="val 12217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6833" y="3614589"/>
            <a:ext cx="6690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 for yourself, even when you work for someone else."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6833" y="3852714"/>
            <a:ext cx="6690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việc cho chính mình, ngay cả khi bạn làm việc cho người khác.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23058" y="995511"/>
            <a:ext cx="349788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Mindset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33860" y="1900386"/>
            <a:ext cx="1651695" cy="520601"/>
          </a:xfrm>
          <a:prstGeom prst="roundRect">
            <a:avLst>
              <a:gd name="adj" fmla="val 14637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80005" y="2027337"/>
            <a:ext cx="959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17343" y="2522488"/>
            <a:ext cx="16847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ownership before asked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66555" y="1900386"/>
            <a:ext cx="1729085" cy="520601"/>
          </a:xfrm>
          <a:prstGeom prst="roundRect">
            <a:avLst>
              <a:gd name="adj" fmla="val 14637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11925" y="2027337"/>
            <a:ext cx="10383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9264" y="2522488"/>
            <a:ext cx="17636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solutions, not just tasks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76640" y="1900386"/>
            <a:ext cx="1333500" cy="520601"/>
          </a:xfrm>
          <a:prstGeom prst="roundRect">
            <a:avLst>
              <a:gd name="adj" fmla="val 14637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5966" y="2027337"/>
            <a:ext cx="6348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63305" y="2522488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yourself first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7325" y="3046363"/>
            <a:ext cx="41092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i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one builds a house by waiting for bricks to fall."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82909" y="3636913"/>
            <a:ext cx="31781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Solutions — Better Lives!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82909" y="3976539"/>
            <a:ext cx="31781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INNOMIZE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Year-End Review 2025 &amp; Vision for 2026</dc:title>
  <dc:subject>Builder Mindset - OWN BUILD LEAD</dc:subject>
  <dc:creator>INNOMIZE</dc:creator>
  <cp:lastModifiedBy>INNOMIZE</cp:lastModifiedBy>
  <cp:revision>1</cp:revision>
  <dcterms:created xsi:type="dcterms:W3CDTF">2026-02-05T07:32:12Z</dcterms:created>
  <dcterms:modified xsi:type="dcterms:W3CDTF">2026-02-05T07:32:12Z</dcterms:modified>
</cp:coreProperties>
</file>